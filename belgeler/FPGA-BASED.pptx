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75" r:id="rId7"/>
    <p:sldId id="267" r:id="rId8"/>
    <p:sldId id="259" r:id="rId9"/>
    <p:sldId id="272" r:id="rId10"/>
    <p:sldId id="273" r:id="rId11"/>
    <p:sldId id="274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741A"/>
    <a:srgbClr val="394404"/>
    <a:srgbClr val="5F6F0F"/>
    <a:srgbClr val="718412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365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tr-TR"/>
              <a:t>Resim eklemek için simgeye tıklayın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3/24/2026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828" y="-1467544"/>
            <a:ext cx="7416824" cy="518457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FPGA-BASED MULTI-CAMERA </a:t>
            </a:r>
            <a:br>
              <a:rPr lang="tr-TR" sz="44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GIMBAL SYSTEM </a:t>
            </a:r>
            <a:r>
              <a:rPr lang="tr-TR" sz="4400" b="1" dirty="0">
                <a:solidFill>
                  <a:schemeClr val="accent1">
                    <a:lumMod val="75000"/>
                  </a:schemeClr>
                </a:solidFill>
              </a:rPr>
              <a:t>PROJESİ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416987D-CB51-5DA1-85BB-6A7BD28A9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620" y="332656"/>
            <a:ext cx="2538307" cy="4608512"/>
          </a:xfrm>
          <a:prstGeom prst="rect">
            <a:avLst/>
          </a:prstGeom>
          <a:gradFill>
            <a:gsLst>
              <a:gs pos="6205">
                <a:schemeClr val="accent1">
                  <a:lumMod val="50000"/>
                </a:schemeClr>
              </a:gs>
              <a:gs pos="0">
                <a:schemeClr val="bg2">
                  <a:tint val="100000"/>
                  <a:shade val="0"/>
                  <a:satMod val="100000"/>
                </a:schemeClr>
              </a:gs>
              <a:gs pos="85000">
                <a:schemeClr val="bg2">
                  <a:tint val="100000"/>
                  <a:shade val="30000"/>
                  <a:satMod val="100000"/>
                </a:schemeClr>
              </a:gs>
              <a:gs pos="100000">
                <a:schemeClr val="bg2">
                  <a:shade val="60000"/>
                  <a:satMod val="100000"/>
                </a:schemeClr>
              </a:gs>
            </a:gsLst>
            <a:lin ang="3600000" scaled="0"/>
          </a:gradFill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1"/>
          <p:cNvSpPr/>
          <p:nvPr/>
        </p:nvSpPr>
        <p:spPr>
          <a:xfrm>
            <a:off x="4024078" y="1365985"/>
            <a:ext cx="3230972" cy="4126029"/>
          </a:xfrm>
          <a:prstGeom prst="rect">
            <a:avLst/>
          </a:prstGeom>
          <a:solidFill>
            <a:srgbClr val="1A2B4A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23211" y="-375240"/>
            <a:ext cx="10360501" cy="1223963"/>
          </a:xfrm>
        </p:spPr>
        <p:txBody>
          <a:bodyPr>
            <a:normAutofit/>
          </a:bodyPr>
          <a:lstStyle/>
          <a:p>
            <a:r>
              <a:rPr lang="tr-TR" sz="3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BLOK DİYAGRAMI</a:t>
            </a:r>
            <a:endParaRPr lang="en-US" sz="32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3">
            <a:extLst>
              <a:ext uri="{FF2B5EF4-FFF2-40B4-BE49-F238E27FC236}">
                <a16:creationId xmlns:a16="http://schemas.microsoft.com/office/drawing/2014/main" id="{832DA9CF-753A-0813-93CA-044BC0AACE01}"/>
              </a:ext>
            </a:extLst>
          </p:cNvPr>
          <p:cNvSpPr/>
          <p:nvPr/>
        </p:nvSpPr>
        <p:spPr>
          <a:xfrm>
            <a:off x="1566418" y="1747622"/>
            <a:ext cx="1740728" cy="1223963"/>
          </a:xfrm>
          <a:prstGeom prst="rect">
            <a:avLst/>
          </a:prstGeom>
          <a:solidFill>
            <a:srgbClr val="131E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3" name="Text 4">
            <a:extLst>
              <a:ext uri="{FF2B5EF4-FFF2-40B4-BE49-F238E27FC236}">
                <a16:creationId xmlns:a16="http://schemas.microsoft.com/office/drawing/2014/main" id="{CE2AB69B-7728-3B88-8FCA-ECAE71FAF667}"/>
              </a:ext>
            </a:extLst>
          </p:cNvPr>
          <p:cNvSpPr/>
          <p:nvPr/>
        </p:nvSpPr>
        <p:spPr>
          <a:xfrm>
            <a:off x="1728122" y="198248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Pcam 5C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Kamera 1</a:t>
            </a:r>
            <a:endParaRPr lang="en-US" sz="1000" dirty="0"/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28D6B1B1-15DC-4C8C-E151-65682AD292B9}"/>
              </a:ext>
            </a:extLst>
          </p:cNvPr>
          <p:cNvSpPr/>
          <p:nvPr/>
        </p:nvSpPr>
        <p:spPr>
          <a:xfrm>
            <a:off x="1566418" y="3040302"/>
            <a:ext cx="1740728" cy="1223963"/>
          </a:xfrm>
          <a:prstGeom prst="rect">
            <a:avLst/>
          </a:prstGeom>
          <a:solidFill>
            <a:srgbClr val="131E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5" name="Text 6">
            <a:extLst>
              <a:ext uri="{FF2B5EF4-FFF2-40B4-BE49-F238E27FC236}">
                <a16:creationId xmlns:a16="http://schemas.microsoft.com/office/drawing/2014/main" id="{A122A6CA-A836-4945-58F2-0FC5EE2607FA}"/>
              </a:ext>
            </a:extLst>
          </p:cNvPr>
          <p:cNvSpPr/>
          <p:nvPr/>
        </p:nvSpPr>
        <p:spPr>
          <a:xfrm>
            <a:off x="1744857" y="3219799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Pcam 5C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Kamera 2</a:t>
            </a:r>
            <a:endParaRPr lang="en-US" sz="1000" dirty="0"/>
          </a:p>
        </p:txBody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CA79EF99-645D-35B9-3325-E7B5C5D969C3}"/>
              </a:ext>
            </a:extLst>
          </p:cNvPr>
          <p:cNvSpPr/>
          <p:nvPr/>
        </p:nvSpPr>
        <p:spPr>
          <a:xfrm>
            <a:off x="3307146" y="2305399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FA6"/>
                </a:solidFill>
              </a:rPr>
              <a:t>MIPI CSI-2</a:t>
            </a:r>
            <a:endParaRPr lang="en-US" sz="800" dirty="0"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2478BCF1-F8FD-5F79-538D-7C59A3E915C5}"/>
              </a:ext>
            </a:extLst>
          </p:cNvPr>
          <p:cNvSpPr/>
          <p:nvPr/>
        </p:nvSpPr>
        <p:spPr>
          <a:xfrm>
            <a:off x="3307146" y="3356959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FA6"/>
                </a:solidFill>
              </a:rPr>
              <a:t>MIPI CSI-2</a:t>
            </a:r>
            <a:endParaRPr lang="en-US" sz="800" dirty="0"/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6424CA96-81BC-62EE-3B07-399F3DF8738B}"/>
              </a:ext>
            </a:extLst>
          </p:cNvPr>
          <p:cNvSpPr/>
          <p:nvPr/>
        </p:nvSpPr>
        <p:spPr>
          <a:xfrm>
            <a:off x="3307146" y="2396839"/>
            <a:ext cx="731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9" name="Shape 10">
            <a:extLst>
              <a:ext uri="{FF2B5EF4-FFF2-40B4-BE49-F238E27FC236}">
                <a16:creationId xmlns:a16="http://schemas.microsoft.com/office/drawing/2014/main" id="{40C1A7DA-3C4B-639A-8720-0422CD8EB222}"/>
              </a:ext>
            </a:extLst>
          </p:cNvPr>
          <p:cNvSpPr/>
          <p:nvPr/>
        </p:nvSpPr>
        <p:spPr>
          <a:xfrm>
            <a:off x="3307146" y="3448399"/>
            <a:ext cx="731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0" name="Shape 13">
            <a:extLst>
              <a:ext uri="{FF2B5EF4-FFF2-40B4-BE49-F238E27FC236}">
                <a16:creationId xmlns:a16="http://schemas.microsoft.com/office/drawing/2014/main" id="{FA2181F3-685C-792D-FFC1-64A201117399}"/>
              </a:ext>
            </a:extLst>
          </p:cNvPr>
          <p:cNvSpPr/>
          <p:nvPr/>
        </p:nvSpPr>
        <p:spPr>
          <a:xfrm>
            <a:off x="4282083" y="1587333"/>
            <a:ext cx="1356781" cy="1223963"/>
          </a:xfrm>
          <a:prstGeom prst="rect">
            <a:avLst/>
          </a:prstGeom>
          <a:solidFill>
            <a:srgbClr val="131E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1" name="Text 14">
            <a:extLst>
              <a:ext uri="{FF2B5EF4-FFF2-40B4-BE49-F238E27FC236}">
                <a16:creationId xmlns:a16="http://schemas.microsoft.com/office/drawing/2014/main" id="{AD80485B-A4E3-B65B-A3AC-55262A7ED163}"/>
              </a:ext>
            </a:extLst>
          </p:cNvPr>
          <p:cNvSpPr/>
          <p:nvPr/>
        </p:nvSpPr>
        <p:spPr>
          <a:xfrm>
            <a:off x="4272296" y="1513605"/>
            <a:ext cx="1371601" cy="1371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PL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(FPGA)</a:t>
            </a:r>
            <a:endParaRPr lang="en-US" sz="900" dirty="0"/>
          </a:p>
        </p:txBody>
      </p:sp>
      <p:sp>
        <p:nvSpPr>
          <p:cNvPr id="122" name="Shape 15">
            <a:extLst>
              <a:ext uri="{FF2B5EF4-FFF2-40B4-BE49-F238E27FC236}">
                <a16:creationId xmlns:a16="http://schemas.microsoft.com/office/drawing/2014/main" id="{A2060701-F3A7-357D-778D-BB7AC7376E7A}"/>
              </a:ext>
            </a:extLst>
          </p:cNvPr>
          <p:cNvSpPr/>
          <p:nvPr/>
        </p:nvSpPr>
        <p:spPr>
          <a:xfrm>
            <a:off x="4267264" y="2885223"/>
            <a:ext cx="1371601" cy="1223963"/>
          </a:xfrm>
          <a:prstGeom prst="rect">
            <a:avLst/>
          </a:prstGeom>
          <a:solidFill>
            <a:srgbClr val="131E3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3" name="Text 16">
            <a:extLst>
              <a:ext uri="{FF2B5EF4-FFF2-40B4-BE49-F238E27FC236}">
                <a16:creationId xmlns:a16="http://schemas.microsoft.com/office/drawing/2014/main" id="{022FDD82-1230-10CF-9AF3-BA9C726C5C26}"/>
              </a:ext>
            </a:extLst>
          </p:cNvPr>
          <p:cNvSpPr/>
          <p:nvPr/>
        </p:nvSpPr>
        <p:spPr>
          <a:xfrm>
            <a:off x="4267263" y="2898752"/>
            <a:ext cx="1371601" cy="122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42"/>
                </a:solidFill>
              </a:rPr>
              <a:t>DMA</a:t>
            </a:r>
            <a:endParaRPr lang="en-US" sz="900" dirty="0"/>
          </a:p>
        </p:txBody>
      </p:sp>
      <p:sp>
        <p:nvSpPr>
          <p:cNvPr id="124" name="Shape 17">
            <a:extLst>
              <a:ext uri="{FF2B5EF4-FFF2-40B4-BE49-F238E27FC236}">
                <a16:creationId xmlns:a16="http://schemas.microsoft.com/office/drawing/2014/main" id="{F5478D3F-0B8A-A981-C94B-490D48875C99}"/>
              </a:ext>
            </a:extLst>
          </p:cNvPr>
          <p:cNvSpPr/>
          <p:nvPr/>
        </p:nvSpPr>
        <p:spPr>
          <a:xfrm>
            <a:off x="4263656" y="4188598"/>
            <a:ext cx="1371601" cy="1223963"/>
          </a:xfrm>
          <a:prstGeom prst="rect">
            <a:avLst/>
          </a:prstGeom>
          <a:solidFill>
            <a:srgbClr val="131E3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5" name="Text 18">
            <a:extLst>
              <a:ext uri="{FF2B5EF4-FFF2-40B4-BE49-F238E27FC236}">
                <a16:creationId xmlns:a16="http://schemas.microsoft.com/office/drawing/2014/main" id="{5668B0F5-8796-8769-4016-417C0C339878}"/>
              </a:ext>
            </a:extLst>
          </p:cNvPr>
          <p:cNvSpPr/>
          <p:nvPr/>
        </p:nvSpPr>
        <p:spPr>
          <a:xfrm>
            <a:off x="4258047" y="4171128"/>
            <a:ext cx="1371601" cy="122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</a:rPr>
              <a:t>DDR3</a:t>
            </a:r>
            <a:endParaRPr lang="en-US" sz="900" dirty="0"/>
          </a:p>
        </p:txBody>
      </p:sp>
      <p:sp>
        <p:nvSpPr>
          <p:cNvPr id="126" name="Shape 19">
            <a:extLst>
              <a:ext uri="{FF2B5EF4-FFF2-40B4-BE49-F238E27FC236}">
                <a16:creationId xmlns:a16="http://schemas.microsoft.com/office/drawing/2014/main" id="{EEB905E1-5DFB-3512-FF0A-0E9620880937}"/>
              </a:ext>
            </a:extLst>
          </p:cNvPr>
          <p:cNvSpPr/>
          <p:nvPr/>
        </p:nvSpPr>
        <p:spPr>
          <a:xfrm>
            <a:off x="5831145" y="2305399"/>
            <a:ext cx="1343381" cy="2257136"/>
          </a:xfrm>
          <a:prstGeom prst="rect">
            <a:avLst/>
          </a:prstGeom>
          <a:solidFill>
            <a:srgbClr val="131E3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7" name="Text 20">
            <a:extLst>
              <a:ext uri="{FF2B5EF4-FFF2-40B4-BE49-F238E27FC236}">
                <a16:creationId xmlns:a16="http://schemas.microsoft.com/office/drawing/2014/main" id="{9030252B-5749-0C68-664C-1D0265E35A82}"/>
              </a:ext>
            </a:extLst>
          </p:cNvPr>
          <p:cNvSpPr/>
          <p:nvPr/>
        </p:nvSpPr>
        <p:spPr>
          <a:xfrm>
            <a:off x="5967956" y="2488279"/>
            <a:ext cx="1097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B6"/>
                </a:solidFill>
              </a:rPr>
              <a:t>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77B6"/>
                </a:solidFill>
              </a:rPr>
              <a:t>(ARM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77B6"/>
                </a:solidFill>
              </a:rPr>
              <a:t>Cortex-A9)</a:t>
            </a:r>
            <a:endParaRPr lang="en-US" sz="900" dirty="0"/>
          </a:p>
        </p:txBody>
      </p:sp>
      <p:sp>
        <p:nvSpPr>
          <p:cNvPr id="128" name="Shape 21">
            <a:extLst>
              <a:ext uri="{FF2B5EF4-FFF2-40B4-BE49-F238E27FC236}">
                <a16:creationId xmlns:a16="http://schemas.microsoft.com/office/drawing/2014/main" id="{7F98C0E1-DB1C-7044-4BB9-569690564FBE}"/>
              </a:ext>
            </a:extLst>
          </p:cNvPr>
          <p:cNvSpPr/>
          <p:nvPr/>
        </p:nvSpPr>
        <p:spPr>
          <a:xfrm>
            <a:off x="5629648" y="3522316"/>
            <a:ext cx="17145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</p:sp>
      <p:sp>
        <p:nvSpPr>
          <p:cNvPr id="129" name="Shape 22">
            <a:extLst>
              <a:ext uri="{FF2B5EF4-FFF2-40B4-BE49-F238E27FC236}">
                <a16:creationId xmlns:a16="http://schemas.microsoft.com/office/drawing/2014/main" id="{BE141B21-33B4-E356-F9D8-010086A7BA30}"/>
              </a:ext>
            </a:extLst>
          </p:cNvPr>
          <p:cNvSpPr/>
          <p:nvPr/>
        </p:nvSpPr>
        <p:spPr>
          <a:xfrm>
            <a:off x="5659695" y="2611719"/>
            <a:ext cx="17145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</p:sp>
      <p:sp>
        <p:nvSpPr>
          <p:cNvPr id="130" name="Shape 23">
            <a:extLst>
              <a:ext uri="{FF2B5EF4-FFF2-40B4-BE49-F238E27FC236}">
                <a16:creationId xmlns:a16="http://schemas.microsoft.com/office/drawing/2014/main" id="{8A5B75B9-3BF8-FCE7-50D6-40712E17EE27}"/>
              </a:ext>
            </a:extLst>
          </p:cNvPr>
          <p:cNvSpPr/>
          <p:nvPr/>
        </p:nvSpPr>
        <p:spPr>
          <a:xfrm flipV="1">
            <a:off x="5627049" y="4341897"/>
            <a:ext cx="209705" cy="1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</p:sp>
      <p:sp>
        <p:nvSpPr>
          <p:cNvPr id="131" name="Shape 24">
            <a:extLst>
              <a:ext uri="{FF2B5EF4-FFF2-40B4-BE49-F238E27FC236}">
                <a16:creationId xmlns:a16="http://schemas.microsoft.com/office/drawing/2014/main" id="{26D334D0-63BA-08F2-D7AE-7EDA8F039FFD}"/>
              </a:ext>
            </a:extLst>
          </p:cNvPr>
          <p:cNvSpPr/>
          <p:nvPr/>
        </p:nvSpPr>
        <p:spPr>
          <a:xfrm>
            <a:off x="7255051" y="2898752"/>
            <a:ext cx="520304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32" name="Text 25">
            <a:extLst>
              <a:ext uri="{FF2B5EF4-FFF2-40B4-BE49-F238E27FC236}">
                <a16:creationId xmlns:a16="http://schemas.microsoft.com/office/drawing/2014/main" id="{06D4864F-B9E6-916F-6ED8-B4633EECAF5F}"/>
              </a:ext>
            </a:extLst>
          </p:cNvPr>
          <p:cNvSpPr/>
          <p:nvPr/>
        </p:nvSpPr>
        <p:spPr>
          <a:xfrm>
            <a:off x="7072170" y="263142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8FA6"/>
                </a:solidFill>
              </a:rPr>
              <a:t>UDP/TCP</a:t>
            </a:r>
            <a:endParaRPr lang="en-US" sz="800" dirty="0"/>
          </a:p>
        </p:txBody>
      </p:sp>
      <p:sp>
        <p:nvSpPr>
          <p:cNvPr id="133" name="Shape 26">
            <a:extLst>
              <a:ext uri="{FF2B5EF4-FFF2-40B4-BE49-F238E27FC236}">
                <a16:creationId xmlns:a16="http://schemas.microsoft.com/office/drawing/2014/main" id="{7C793520-9DED-E44B-F8D7-1B08B9106E78}"/>
              </a:ext>
            </a:extLst>
          </p:cNvPr>
          <p:cNvSpPr/>
          <p:nvPr/>
        </p:nvSpPr>
        <p:spPr>
          <a:xfrm>
            <a:off x="7763488" y="2471406"/>
            <a:ext cx="1463039" cy="885549"/>
          </a:xfrm>
          <a:prstGeom prst="rect">
            <a:avLst/>
          </a:prstGeom>
          <a:solidFill>
            <a:srgbClr val="131E3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4" name="Text 27">
            <a:extLst>
              <a:ext uri="{FF2B5EF4-FFF2-40B4-BE49-F238E27FC236}">
                <a16:creationId xmlns:a16="http://schemas.microsoft.com/office/drawing/2014/main" id="{A9680A09-E50D-CA6A-2FC6-FA13FE0D5060}"/>
              </a:ext>
            </a:extLst>
          </p:cNvPr>
          <p:cNvSpPr/>
          <p:nvPr/>
        </p:nvSpPr>
        <p:spPr>
          <a:xfrm>
            <a:off x="7809207" y="251013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Ethernet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(GbE)</a:t>
            </a:r>
            <a:endParaRPr lang="en-US" sz="1000" dirty="0"/>
          </a:p>
        </p:txBody>
      </p:sp>
      <p:sp>
        <p:nvSpPr>
          <p:cNvPr id="135" name="Shape 28">
            <a:extLst>
              <a:ext uri="{FF2B5EF4-FFF2-40B4-BE49-F238E27FC236}">
                <a16:creationId xmlns:a16="http://schemas.microsoft.com/office/drawing/2014/main" id="{351EE3D8-74D4-025F-CB76-94C388278A98}"/>
              </a:ext>
            </a:extLst>
          </p:cNvPr>
          <p:cNvSpPr/>
          <p:nvPr/>
        </p:nvSpPr>
        <p:spPr>
          <a:xfrm>
            <a:off x="9226527" y="2914180"/>
            <a:ext cx="45720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136" name="Shape 29">
            <a:extLst>
              <a:ext uri="{FF2B5EF4-FFF2-40B4-BE49-F238E27FC236}">
                <a16:creationId xmlns:a16="http://schemas.microsoft.com/office/drawing/2014/main" id="{588AE168-65D1-3BD9-E6D1-435E5BF459A6}"/>
              </a:ext>
            </a:extLst>
          </p:cNvPr>
          <p:cNvSpPr/>
          <p:nvPr/>
        </p:nvSpPr>
        <p:spPr>
          <a:xfrm>
            <a:off x="9675311" y="2107861"/>
            <a:ext cx="1819795" cy="1554321"/>
          </a:xfrm>
          <a:prstGeom prst="rect">
            <a:avLst/>
          </a:prstGeom>
          <a:solidFill>
            <a:srgbClr val="131E3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7" name="Text 30">
            <a:extLst>
              <a:ext uri="{FF2B5EF4-FFF2-40B4-BE49-F238E27FC236}">
                <a16:creationId xmlns:a16="http://schemas.microsoft.com/office/drawing/2014/main" id="{8CFC93E1-1114-0B28-57A4-DB987F81967D}"/>
              </a:ext>
            </a:extLst>
          </p:cNvPr>
          <p:cNvSpPr/>
          <p:nvPr/>
        </p:nvSpPr>
        <p:spPr>
          <a:xfrm>
            <a:off x="9675311" y="2107861"/>
            <a:ext cx="1819795" cy="155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</a:rPr>
              <a:t>PC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</a:rPr>
              <a:t>OpenCV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</a:rPr>
              <a:t>Panorama</a:t>
            </a:r>
            <a:endParaRPr lang="en-US" sz="1000" dirty="0"/>
          </a:p>
        </p:txBody>
      </p:sp>
      <p:sp>
        <p:nvSpPr>
          <p:cNvPr id="138" name="Text 31">
            <a:extLst>
              <a:ext uri="{FF2B5EF4-FFF2-40B4-BE49-F238E27FC236}">
                <a16:creationId xmlns:a16="http://schemas.microsoft.com/office/drawing/2014/main" id="{BEE0FCBE-7CCE-663A-FEE1-15248F5CA153}"/>
              </a:ext>
            </a:extLst>
          </p:cNvPr>
          <p:cNvSpPr/>
          <p:nvPr/>
        </p:nvSpPr>
        <p:spPr>
          <a:xfrm>
            <a:off x="5417481" y="33357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8FA6"/>
                </a:solidFill>
              </a:rPr>
              <a:t>AXI</a:t>
            </a:r>
            <a:endParaRPr lang="en-US" sz="700" dirty="0"/>
          </a:p>
        </p:txBody>
      </p:sp>
      <p:sp>
        <p:nvSpPr>
          <p:cNvPr id="140" name="Text 12">
            <a:extLst>
              <a:ext uri="{FF2B5EF4-FFF2-40B4-BE49-F238E27FC236}">
                <a16:creationId xmlns:a16="http://schemas.microsoft.com/office/drawing/2014/main" id="{1EA379D9-815D-A412-7F16-759C50D17C6C}"/>
              </a:ext>
            </a:extLst>
          </p:cNvPr>
          <p:cNvSpPr/>
          <p:nvPr/>
        </p:nvSpPr>
        <p:spPr>
          <a:xfrm>
            <a:off x="5123594" y="144772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Zynq SoC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(ZedBoard)</a:t>
            </a:r>
            <a:endParaRPr lang="en-US" sz="1200" dirty="0"/>
          </a:p>
        </p:txBody>
      </p:sp>
      <p:sp>
        <p:nvSpPr>
          <p:cNvPr id="141" name="Text 32">
            <a:extLst>
              <a:ext uri="{FF2B5EF4-FFF2-40B4-BE49-F238E27FC236}">
                <a16:creationId xmlns:a16="http://schemas.microsoft.com/office/drawing/2014/main" id="{813A0E6B-9A9F-A363-C632-A820D858B4F6}"/>
              </a:ext>
            </a:extLst>
          </p:cNvPr>
          <p:cNvSpPr/>
          <p:nvPr/>
        </p:nvSpPr>
        <p:spPr>
          <a:xfrm>
            <a:off x="-624774" y="60479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A8FA6"/>
                </a:solidFill>
                <a:effectLst/>
                <a:uLnTx/>
                <a:uFillTx/>
              </a:rPr>
              <a:t>PL: MIPI Yakalama + AXI Stream + VDMA   |   PS: Network Stack + Frame Yönetimi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C0D520-0ADE-D635-098F-B4539A658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76" y="476672"/>
            <a:ext cx="10360501" cy="6381328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projede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Zynq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tabanlı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ZedBoard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geliştirme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üzerinde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adet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5C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kamera</a:t>
            </a: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modülünden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alınan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görüntülerin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FPGA/Zynq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aracılığıyla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işlenmesi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Ethernet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bağlantısı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üzerinden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bilgisayara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aktarılması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bilgisayar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tarafında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OpenCV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panoramik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birleştirilmesi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amaçlanmaktadır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Donanım :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ZedBoard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Advanced Image Processing Kit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da-DK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 Pcam 5C (OV5640, 5MP)</a:t>
            </a: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 tasarlanacak 3d sabitleyici</a:t>
            </a: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pt-B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FMC Pcam Adapter (MIPI CSI-2)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Yazılım :     </a:t>
            </a:r>
            <a:r>
              <a:rPr lang="es-E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Vivado — FPGA donanım tasarımı ve block design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Vitis / SDK — PS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tarafı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gömülü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yazılım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(C/C++)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—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Görüntü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işleme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panorama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oluşturma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 — PC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tarafı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yazılım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programlama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UDP Ethernet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iletişimi</a:t>
            </a:r>
            <a:endParaRPr lang="tr-TR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</a:p>
          <a:p>
            <a:pPr marL="0" indent="0">
              <a:buNone/>
            </a:pPr>
            <a:r>
              <a:rPr lang="tr-TR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endParaRPr lang="en-US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82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ECE765B-D46E-95EB-85F1-FB633C9057DC}"/>
              </a:ext>
            </a:extLst>
          </p:cNvPr>
          <p:cNvSpPr/>
          <p:nvPr/>
        </p:nvSpPr>
        <p:spPr>
          <a:xfrm>
            <a:off x="1341884" y="510856"/>
            <a:ext cx="6768752" cy="397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TEKNİK YAKLAŞIM</a:t>
            </a:r>
            <a:endParaRPr lang="en-US" sz="32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2C7B0C8-FA17-8464-9FBA-9584C52EC7F6}"/>
              </a:ext>
            </a:extLst>
          </p:cNvPr>
          <p:cNvSpPr/>
          <p:nvPr/>
        </p:nvSpPr>
        <p:spPr>
          <a:xfrm>
            <a:off x="1197868" y="1124744"/>
            <a:ext cx="4896544" cy="511256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</a:schemeClr>
              </a:gs>
              <a:gs pos="85000">
                <a:schemeClr val="bg2">
                  <a:tint val="100000"/>
                  <a:shade val="30000"/>
                  <a:satMod val="100000"/>
                </a:schemeClr>
              </a:gs>
              <a:gs pos="100000">
                <a:schemeClr val="bg2">
                  <a:shade val="60000"/>
                  <a:satMod val="100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3AE68A8-61CD-64C5-78C5-1D72222D7127}"/>
              </a:ext>
            </a:extLst>
          </p:cNvPr>
          <p:cNvSpPr/>
          <p:nvPr/>
        </p:nvSpPr>
        <p:spPr>
          <a:xfrm>
            <a:off x="6670476" y="1124744"/>
            <a:ext cx="4896544" cy="5112568"/>
          </a:xfrm>
          <a:prstGeom prst="rect">
            <a:avLst/>
          </a:prstGeom>
          <a:gradFill>
            <a:gsLst>
              <a:gs pos="8000">
                <a:schemeClr val="accent1">
                  <a:lumMod val="50000"/>
                </a:schemeClr>
              </a:gs>
              <a:gs pos="85000">
                <a:schemeClr val="bg2">
                  <a:tint val="100000"/>
                  <a:shade val="30000"/>
                  <a:satMod val="100000"/>
                </a:schemeClr>
              </a:gs>
              <a:gs pos="100000">
                <a:schemeClr val="bg2">
                  <a:shade val="60000"/>
                  <a:satMod val="100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74FF7957-159F-FA4D-CFDC-76F733EF2F41}"/>
              </a:ext>
            </a:extLst>
          </p:cNvPr>
          <p:cNvSpPr txBox="1"/>
          <p:nvPr/>
        </p:nvSpPr>
        <p:spPr>
          <a:xfrm>
            <a:off x="1197868" y="1228397"/>
            <a:ext cx="48965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 — FPGA </a:t>
            </a:r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Tarafı</a:t>
            </a:r>
            <a:endParaRPr lang="tr-TR" sz="28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MIPI CSI-2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alıcısı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kamera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arayüzü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AXI-Stream video pipeline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VDMA / AXI DMA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taşıma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DDR3 frame buffer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yazma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Kamera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zamanlama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senkronizasyon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9CE01D0-B948-4566-8F3E-61074B2E6E70}"/>
              </a:ext>
            </a:extLst>
          </p:cNvPr>
          <p:cNvSpPr txBox="1"/>
          <p:nvPr/>
        </p:nvSpPr>
        <p:spPr>
          <a:xfrm>
            <a:off x="6670476" y="1228397"/>
            <a:ext cx="48965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— ARM </a:t>
            </a:r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Yazılım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Tarafı</a:t>
            </a:r>
            <a:endParaRPr lang="tr-TR" sz="28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8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DDR3'ten frame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okuma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UDP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ile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Ethernet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akışı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tarafı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Python + OpenCV</a:t>
            </a:r>
            <a:endParaRPr lang="tr-TR" dirty="0">
              <a:solidFill>
                <a:srgbClr val="C8D6E5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Kalibrasyon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tabanlı</a:t>
            </a:r>
            <a:r>
              <a:rPr lang="en-US" dirty="0">
                <a:solidFill>
                  <a:srgbClr val="C8D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stitching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1845" y="220784"/>
            <a:ext cx="8640960" cy="615927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81845" y="1052736"/>
            <a:ext cx="11206980" cy="36003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 — </a:t>
            </a:r>
            <a:r>
              <a:rPr lang="en-US" spc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Görüş</a:t>
            </a: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Açısı</a:t>
            </a: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r>
              <a:rPr lang="tr-TR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tr-TR" sz="2400" spc="-15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kamera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sistemleri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alanları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kapsamakta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yetersiz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kalır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çevrenin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tam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olarak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algılanmasını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zorlaştırır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cap="none" spc="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ÇÖZÜM: B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çözmek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kamera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kullanarak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daha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görüş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açısı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elde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etmeyi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hedefliyorum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cap="none" spc="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cap="none" spc="-15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6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3EBBCB4-D49A-551F-3CD6-6CA4CB82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00" y="3429000"/>
            <a:ext cx="3887340" cy="267069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5000">
                <a:schemeClr val="bg2">
                  <a:tint val="100000"/>
                  <a:shade val="30000"/>
                  <a:satMod val="100000"/>
                </a:schemeClr>
              </a:gs>
              <a:gs pos="100000">
                <a:schemeClr val="bg2">
                  <a:shade val="60000"/>
                  <a:satMod val="100000"/>
                </a:schemeClr>
              </a:gs>
            </a:gsLst>
            <a:lin ang="3600000" scaled="0"/>
          </a:gradFill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4045CBA4-D1FC-A6EC-42E4-3C22E320FB08}"/>
              </a:ext>
            </a:extLst>
          </p:cNvPr>
          <p:cNvSpPr txBox="1"/>
          <p:nvPr/>
        </p:nvSpPr>
        <p:spPr>
          <a:xfrm>
            <a:off x="5725270" y="3356992"/>
            <a:ext cx="6131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cap="none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Kesişim alanının </a:t>
            </a:r>
            <a:r>
              <a:rPr lang="tr-TR" sz="2400" cap="none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OpenCV’de</a:t>
            </a:r>
            <a:r>
              <a:rPr lang="tr-TR" sz="2400" cap="none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özellik eşleştirme                            algoritmalarının çalışabilmesi için gerekli olduğu öngörülmüştür.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81BA-B876-2837-2D58-1A2FD852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00E00-EFBC-DC7B-E12F-9742C723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5" y="220784"/>
            <a:ext cx="8640960" cy="615927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4ED08-C083-A956-78E5-2D9E3EBD0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1845" y="1052736"/>
            <a:ext cx="11206980" cy="36003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2 — </a:t>
            </a:r>
            <a:r>
              <a:rPr lang="en-US" spc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</a:t>
            </a: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Zamanlı</a:t>
            </a: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İşleme</a:t>
            </a:r>
            <a:r>
              <a:rPr lang="en-US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r>
              <a:rPr lang="tr-TR" spc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tr-TR" spc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amera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verisi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hızda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üretildiği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klasik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işlemcilerle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gerçek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zamanlı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işlenmesi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zorlaşmaktadır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sz="24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tr-TR" sz="24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ÇÖZÜM: </a:t>
            </a:r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çözmek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FPGA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kullanarak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paralel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işleme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performans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elde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etmeyi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hedefliyorum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cap="none" spc="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cap="none" spc="-15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6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6E408DA2-F659-E080-536E-02CAA0AD5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3537012"/>
            <a:ext cx="3960440" cy="252453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3ED7337-35F2-FC28-4B80-F294E0DF1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971" y="3975822"/>
            <a:ext cx="39559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yetişemez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ecikme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en-US" sz="180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erçek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zaman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kaybolur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802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F33D-D77A-3187-2ABE-9AD5D7D8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E61F3-53CE-2B62-288E-32C59D21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845" y="220784"/>
            <a:ext cx="8640960" cy="615927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648FAE-8A7A-A598-0437-478E619A1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1845" y="1052736"/>
            <a:ext cx="11206980" cy="36003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 — Veri </a:t>
            </a:r>
            <a:r>
              <a:rPr lang="en-US" spc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Aktarım</a:t>
            </a:r>
            <a:r>
              <a:rPr lang="en-US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r>
              <a:rPr lang="tr-TR" spc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tr-TR" spc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edilen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görüntü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verisinin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hızda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sisteme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aktarılması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gerekmektedir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cap="none" spc="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ÇÖZÜM: b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çözmek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için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veriyi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ethernet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üzerinden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bilgisayara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aktararak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bant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genişliği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spc="0" dirty="0" err="1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sağlanacaktır</a:t>
            </a:r>
            <a:r>
              <a:rPr lang="en-US" sz="2400" cap="none" spc="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cap="none" spc="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cap="none" spc="-150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600" cap="none" spc="-150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0249C17E-1BA7-417D-C892-A269AF08F2E7}"/>
              </a:ext>
            </a:extLst>
          </p:cNvPr>
          <p:cNvSpPr txBox="1"/>
          <p:nvPr/>
        </p:nvSpPr>
        <p:spPr>
          <a:xfrm>
            <a:off x="2718658" y="3232140"/>
            <a:ext cx="38122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Sena Sümeyye Durarslan</a:t>
            </a:r>
          </a:p>
          <a:p>
            <a:r>
              <a:rPr lang="tr-T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220208041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37C4B34-A7F0-1AF7-14E5-332ADD15F38E}"/>
              </a:ext>
            </a:extLst>
          </p:cNvPr>
          <p:cNvSpPr txBox="1"/>
          <p:nvPr/>
        </p:nvSpPr>
        <p:spPr>
          <a:xfrm>
            <a:off x="2710036" y="2708920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DİNLEDİĞİNİZ İÇİN TEŞEKKÜR EDERİM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87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278</TotalTime>
  <Words>396</Words>
  <Application>Microsoft Office PowerPoint</Application>
  <PresentationFormat>Özel</PresentationFormat>
  <Paragraphs>84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Tech 16x9</vt:lpstr>
      <vt:lpstr>FPGA-BASED MULTI-CAMERA  GIMBAL SYSTEM PROJESİ</vt:lpstr>
      <vt:lpstr>BLOK DİYAGRAMI</vt:lpstr>
      <vt:lpstr>PowerPoint Sunusu</vt:lpstr>
      <vt:lpstr>PowerPoint Sunusu</vt:lpstr>
      <vt:lpstr>PROBLEM</vt:lpstr>
      <vt:lpstr>PROBLEM</vt:lpstr>
      <vt:lpstr>PROBLEM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sena durarslan</dc:creator>
  <cp:lastModifiedBy>sena durarslan</cp:lastModifiedBy>
  <cp:revision>3</cp:revision>
  <dcterms:created xsi:type="dcterms:W3CDTF">2026-03-23T18:31:17Z</dcterms:created>
  <dcterms:modified xsi:type="dcterms:W3CDTF">2026-03-24T08:50:35Z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